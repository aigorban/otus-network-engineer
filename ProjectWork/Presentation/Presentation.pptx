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0" r:id="rId3"/>
    <p:sldId id="259" r:id="rId4"/>
    <p:sldId id="258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14C2D3-719E-4BD6-B5C2-065CFFBDE7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37197D0-25B3-45B3-BDD8-E66209D87F71}">
      <dgm:prSet phldrT="[Текст]" custT="1"/>
      <dgm:spPr/>
      <dgm:t>
        <a:bodyPr/>
        <a:lstStyle/>
        <a:p>
          <a:r>
            <a:rPr lang="ru-RU" sz="3600" dirty="0" smtClean="0"/>
            <a:t>К существующей инфраструктуре добавить резервный ЦОД</a:t>
          </a:r>
          <a:endParaRPr lang="ru-RU" sz="3600" dirty="0"/>
        </a:p>
      </dgm:t>
    </dgm:pt>
    <dgm:pt modelId="{BE3F64FA-55B5-4A8F-8567-25BC6E827AF3}" type="parTrans" cxnId="{774EE20A-8944-4292-A62E-5C90D1F146FD}">
      <dgm:prSet/>
      <dgm:spPr/>
      <dgm:t>
        <a:bodyPr/>
        <a:lstStyle/>
        <a:p>
          <a:endParaRPr lang="ru-RU"/>
        </a:p>
      </dgm:t>
    </dgm:pt>
    <dgm:pt modelId="{B4E70884-A248-4109-BD2D-4FB8901A5722}" type="sibTrans" cxnId="{774EE20A-8944-4292-A62E-5C90D1F146FD}">
      <dgm:prSet/>
      <dgm:spPr/>
      <dgm:t>
        <a:bodyPr/>
        <a:lstStyle/>
        <a:p>
          <a:endParaRPr lang="ru-RU"/>
        </a:p>
      </dgm:t>
    </dgm:pt>
    <dgm:pt modelId="{A42F3E0D-B509-42F0-A6D8-211F1B21A5B7}">
      <dgm:prSet phldrT="[Текст]"/>
      <dgm:spPr/>
      <dgm:t>
        <a:bodyPr/>
        <a:lstStyle/>
        <a:p>
          <a:endParaRPr lang="ru-RU" dirty="0"/>
        </a:p>
      </dgm:t>
    </dgm:pt>
    <dgm:pt modelId="{787312F1-F1AA-4636-A5BE-522906619F87}" type="parTrans" cxnId="{10721EA3-D76D-4B44-A30C-B790D202DDDF}">
      <dgm:prSet/>
      <dgm:spPr/>
      <dgm:t>
        <a:bodyPr/>
        <a:lstStyle/>
        <a:p>
          <a:endParaRPr lang="ru-RU"/>
        </a:p>
      </dgm:t>
    </dgm:pt>
    <dgm:pt modelId="{89498142-953A-4DE5-A613-3A9455020729}" type="sibTrans" cxnId="{10721EA3-D76D-4B44-A30C-B790D202DDDF}">
      <dgm:prSet/>
      <dgm:spPr/>
      <dgm:t>
        <a:bodyPr/>
        <a:lstStyle/>
        <a:p>
          <a:endParaRPr lang="ru-RU"/>
        </a:p>
      </dgm:t>
    </dgm:pt>
    <dgm:pt modelId="{32886AA8-8050-474B-A7EA-926C92027949}">
      <dgm:prSet phldrT="[Текст]" custT="1"/>
      <dgm:spPr/>
      <dgm:t>
        <a:bodyPr/>
        <a:lstStyle/>
        <a:p>
          <a:r>
            <a:rPr lang="ru-RU" sz="3600" dirty="0" smtClean="0"/>
            <a:t>Обеспечение работы</a:t>
          </a:r>
          <a:r>
            <a:rPr lang="en-US" sz="3600" dirty="0" smtClean="0"/>
            <a:t> </a:t>
          </a:r>
          <a:r>
            <a:rPr lang="ru-RU" sz="3600" dirty="0" smtClean="0"/>
            <a:t>внутри единой фабрики </a:t>
          </a:r>
          <a:r>
            <a:rPr lang="en-US" sz="3600" dirty="0" smtClean="0"/>
            <a:t>L2 </a:t>
          </a:r>
          <a:r>
            <a:rPr lang="ru-RU" sz="3600" dirty="0" smtClean="0"/>
            <a:t>и </a:t>
          </a:r>
          <a:r>
            <a:rPr lang="en-US" sz="3600" dirty="0" smtClean="0"/>
            <a:t>L3 VNI</a:t>
          </a:r>
          <a:endParaRPr lang="ru-RU" sz="3600" dirty="0"/>
        </a:p>
      </dgm:t>
    </dgm:pt>
    <dgm:pt modelId="{EE734EA0-DB81-4E1A-834C-D6938D8ABE07}" type="parTrans" cxnId="{80773CC7-344D-44DF-8A42-EE2BECE6E935}">
      <dgm:prSet/>
      <dgm:spPr/>
      <dgm:t>
        <a:bodyPr/>
        <a:lstStyle/>
        <a:p>
          <a:endParaRPr lang="ru-RU"/>
        </a:p>
      </dgm:t>
    </dgm:pt>
    <dgm:pt modelId="{0721B548-42B9-44C7-87A7-B61606FA2FA4}" type="sibTrans" cxnId="{80773CC7-344D-44DF-8A42-EE2BECE6E935}">
      <dgm:prSet/>
      <dgm:spPr/>
      <dgm:t>
        <a:bodyPr/>
        <a:lstStyle/>
        <a:p>
          <a:endParaRPr lang="ru-RU"/>
        </a:p>
      </dgm:t>
    </dgm:pt>
    <dgm:pt modelId="{FB97188B-9537-4F49-A9D2-9252BE424E0E}">
      <dgm:prSet custT="1"/>
      <dgm:spPr/>
      <dgm:t>
        <a:bodyPr/>
        <a:lstStyle/>
        <a:p>
          <a:r>
            <a:rPr lang="ru-RU" sz="3600" b="0" dirty="0" smtClean="0"/>
            <a:t>Объединить две </a:t>
          </a:r>
          <a:r>
            <a:rPr lang="en-US" sz="3600" b="0" dirty="0" err="1" smtClean="0"/>
            <a:t>VxLAN</a:t>
          </a:r>
          <a:r>
            <a:rPr lang="ru-RU" sz="3600" b="0" dirty="0" smtClean="0"/>
            <a:t> фабрики по модели </a:t>
          </a:r>
          <a:r>
            <a:rPr lang="en-US" sz="3600" b="0" dirty="0" err="1" smtClean="0"/>
            <a:t>MultiPod</a:t>
          </a:r>
          <a:endParaRPr lang="ru-RU" sz="3600" b="0" dirty="0"/>
        </a:p>
      </dgm:t>
    </dgm:pt>
    <dgm:pt modelId="{FDBBC604-7D30-47BC-8237-B4757B52C885}" type="parTrans" cxnId="{0F146F11-D92F-408F-80AE-BF4FBD8D1DAA}">
      <dgm:prSet/>
      <dgm:spPr/>
      <dgm:t>
        <a:bodyPr/>
        <a:lstStyle/>
        <a:p>
          <a:endParaRPr lang="ru-RU"/>
        </a:p>
      </dgm:t>
    </dgm:pt>
    <dgm:pt modelId="{01D12A3A-53D8-4DDD-986F-0A2DDAF840D4}" type="sibTrans" cxnId="{0F146F11-D92F-408F-80AE-BF4FBD8D1DAA}">
      <dgm:prSet/>
      <dgm:spPr/>
      <dgm:t>
        <a:bodyPr/>
        <a:lstStyle/>
        <a:p>
          <a:endParaRPr lang="ru-RU"/>
        </a:p>
      </dgm:t>
    </dgm:pt>
    <dgm:pt modelId="{E38F30CE-14C0-43F2-800E-91DEFD8223E5}" type="pres">
      <dgm:prSet presAssocID="{E614C2D3-719E-4BD6-B5C2-065CFFBDE725}" presName="linear" presStyleCnt="0">
        <dgm:presLayoutVars>
          <dgm:animLvl val="lvl"/>
          <dgm:resizeHandles val="exact"/>
        </dgm:presLayoutVars>
      </dgm:prSet>
      <dgm:spPr/>
    </dgm:pt>
    <dgm:pt modelId="{1AA2CB0A-776B-4389-B813-E68237DF6A6E}" type="pres">
      <dgm:prSet presAssocID="{637197D0-25B3-45B3-BDD8-E66209D87F71}" presName="parentText" presStyleLbl="node1" presStyleIdx="0" presStyleCnt="3" custLinFactNeighborX="287" custLinFactNeighborY="275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2074C6D-647F-4092-A21E-C2FC3F02E472}" type="pres">
      <dgm:prSet presAssocID="{637197D0-25B3-45B3-BDD8-E66209D87F71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EBFE11E-3B07-4E08-8835-2F78E48102DA}" type="pres">
      <dgm:prSet presAssocID="{FB97188B-9537-4F49-A9D2-9252BE424E0E}" presName="parentText" presStyleLbl="node1" presStyleIdx="1" presStyleCnt="3" custLinFactY="-2463" custLinFactNeighborX="-144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574771-8637-4778-BE4A-4110D35742D5}" type="pres">
      <dgm:prSet presAssocID="{01D12A3A-53D8-4DDD-986F-0A2DDAF840D4}" presName="spacer" presStyleCnt="0"/>
      <dgm:spPr/>
    </dgm:pt>
    <dgm:pt modelId="{6734F08F-D65E-4321-958E-1F4C8BF0E2AA}" type="pres">
      <dgm:prSet presAssocID="{32886AA8-8050-474B-A7EA-926C92027949}" presName="parentText" presStyleLbl="node1" presStyleIdx="2" presStyleCnt="3" custLinFactNeighborX="-575" custLinFactNeighborY="-99528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74EE20A-8944-4292-A62E-5C90D1F146FD}" srcId="{E614C2D3-719E-4BD6-B5C2-065CFFBDE725}" destId="{637197D0-25B3-45B3-BDD8-E66209D87F71}" srcOrd="0" destOrd="0" parTransId="{BE3F64FA-55B5-4A8F-8567-25BC6E827AF3}" sibTransId="{B4E70884-A248-4109-BD2D-4FB8901A5722}"/>
    <dgm:cxn modelId="{69C86A2B-96CA-4DF3-A1E0-198084FD8F51}" type="presOf" srcId="{E614C2D3-719E-4BD6-B5C2-065CFFBDE725}" destId="{E38F30CE-14C0-43F2-800E-91DEFD8223E5}" srcOrd="0" destOrd="0" presId="urn:microsoft.com/office/officeart/2005/8/layout/vList2"/>
    <dgm:cxn modelId="{80773CC7-344D-44DF-8A42-EE2BECE6E935}" srcId="{E614C2D3-719E-4BD6-B5C2-065CFFBDE725}" destId="{32886AA8-8050-474B-A7EA-926C92027949}" srcOrd="2" destOrd="0" parTransId="{EE734EA0-DB81-4E1A-834C-D6938D8ABE07}" sibTransId="{0721B548-42B9-44C7-87A7-B61606FA2FA4}"/>
    <dgm:cxn modelId="{10721EA3-D76D-4B44-A30C-B790D202DDDF}" srcId="{637197D0-25B3-45B3-BDD8-E66209D87F71}" destId="{A42F3E0D-B509-42F0-A6D8-211F1B21A5B7}" srcOrd="0" destOrd="0" parTransId="{787312F1-F1AA-4636-A5BE-522906619F87}" sibTransId="{89498142-953A-4DE5-A613-3A9455020729}"/>
    <dgm:cxn modelId="{0F146F11-D92F-408F-80AE-BF4FBD8D1DAA}" srcId="{E614C2D3-719E-4BD6-B5C2-065CFFBDE725}" destId="{FB97188B-9537-4F49-A9D2-9252BE424E0E}" srcOrd="1" destOrd="0" parTransId="{FDBBC604-7D30-47BC-8237-B4757B52C885}" sibTransId="{01D12A3A-53D8-4DDD-986F-0A2DDAF840D4}"/>
    <dgm:cxn modelId="{05D9A606-3AD7-4CDF-A25B-43B2BD1780E5}" type="presOf" srcId="{32886AA8-8050-474B-A7EA-926C92027949}" destId="{6734F08F-D65E-4321-958E-1F4C8BF0E2AA}" srcOrd="0" destOrd="0" presId="urn:microsoft.com/office/officeart/2005/8/layout/vList2"/>
    <dgm:cxn modelId="{A08BEA72-5A5E-4D31-9FE7-2A9175B8A03F}" type="presOf" srcId="{A42F3E0D-B509-42F0-A6D8-211F1B21A5B7}" destId="{22074C6D-647F-4092-A21E-C2FC3F02E472}" srcOrd="0" destOrd="0" presId="urn:microsoft.com/office/officeart/2005/8/layout/vList2"/>
    <dgm:cxn modelId="{FF2C6099-FDD7-482C-998D-E95D95B039D4}" type="presOf" srcId="{637197D0-25B3-45B3-BDD8-E66209D87F71}" destId="{1AA2CB0A-776B-4389-B813-E68237DF6A6E}" srcOrd="0" destOrd="0" presId="urn:microsoft.com/office/officeart/2005/8/layout/vList2"/>
    <dgm:cxn modelId="{6CB7FA9D-0703-44C3-AEFD-7403AE9A5495}" type="presOf" srcId="{FB97188B-9537-4F49-A9D2-9252BE424E0E}" destId="{FEBFE11E-3B07-4E08-8835-2F78E48102DA}" srcOrd="0" destOrd="0" presId="urn:microsoft.com/office/officeart/2005/8/layout/vList2"/>
    <dgm:cxn modelId="{B49A18AF-E861-4665-98AA-D6EF4098C839}" type="presParOf" srcId="{E38F30CE-14C0-43F2-800E-91DEFD8223E5}" destId="{1AA2CB0A-776B-4389-B813-E68237DF6A6E}" srcOrd="0" destOrd="0" presId="urn:microsoft.com/office/officeart/2005/8/layout/vList2"/>
    <dgm:cxn modelId="{1B1174C6-B753-4D4E-A1E8-5EDB8F0B4D36}" type="presParOf" srcId="{E38F30CE-14C0-43F2-800E-91DEFD8223E5}" destId="{22074C6D-647F-4092-A21E-C2FC3F02E472}" srcOrd="1" destOrd="0" presId="urn:microsoft.com/office/officeart/2005/8/layout/vList2"/>
    <dgm:cxn modelId="{290F8884-685B-402F-9495-D82C3FD2EA64}" type="presParOf" srcId="{E38F30CE-14C0-43F2-800E-91DEFD8223E5}" destId="{FEBFE11E-3B07-4E08-8835-2F78E48102DA}" srcOrd="2" destOrd="0" presId="urn:microsoft.com/office/officeart/2005/8/layout/vList2"/>
    <dgm:cxn modelId="{6FB6FB3D-9F07-4D43-B9FA-CED294E700A8}" type="presParOf" srcId="{E38F30CE-14C0-43F2-800E-91DEFD8223E5}" destId="{7D574771-8637-4778-BE4A-4110D35742D5}" srcOrd="3" destOrd="0" presId="urn:microsoft.com/office/officeart/2005/8/layout/vList2"/>
    <dgm:cxn modelId="{8CA48F4A-9B52-4AAC-8B2A-B0D385CDCF71}" type="presParOf" srcId="{E38F30CE-14C0-43F2-800E-91DEFD8223E5}" destId="{6734F08F-D65E-4321-958E-1F4C8BF0E2A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A2CB0A-776B-4389-B813-E68237DF6A6E}">
      <dsp:nvSpPr>
        <dsp:cNvPr id="0" name=""/>
        <dsp:cNvSpPr/>
      </dsp:nvSpPr>
      <dsp:spPr>
        <a:xfrm>
          <a:off x="0" y="6245"/>
          <a:ext cx="7311697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/>
            <a:t>К существующей инфраструктуре добавить резервный ЦОД</a:t>
          </a:r>
          <a:endParaRPr lang="ru-RU" sz="3600" kern="1200" dirty="0"/>
        </a:p>
      </dsp:txBody>
      <dsp:txXfrm>
        <a:off x="69908" y="76153"/>
        <a:ext cx="7171881" cy="1292264"/>
      </dsp:txXfrm>
    </dsp:sp>
    <dsp:sp modelId="{22074C6D-647F-4092-A21E-C2FC3F02E472}">
      <dsp:nvSpPr>
        <dsp:cNvPr id="0" name=""/>
        <dsp:cNvSpPr/>
      </dsp:nvSpPr>
      <dsp:spPr>
        <a:xfrm>
          <a:off x="0" y="1435586"/>
          <a:ext cx="7311697" cy="99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2146" tIns="7620" rIns="42672" bIns="7620" numCol="1" spcCol="1270" anchor="t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ru-RU" sz="500" kern="1200" dirty="0"/>
        </a:p>
      </dsp:txBody>
      <dsp:txXfrm>
        <a:off x="0" y="1435586"/>
        <a:ext cx="7311697" cy="99360"/>
      </dsp:txXfrm>
    </dsp:sp>
    <dsp:sp modelId="{FEBFE11E-3B07-4E08-8835-2F78E48102DA}">
      <dsp:nvSpPr>
        <dsp:cNvPr id="0" name=""/>
        <dsp:cNvSpPr/>
      </dsp:nvSpPr>
      <dsp:spPr>
        <a:xfrm>
          <a:off x="0" y="1482394"/>
          <a:ext cx="7311697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kern="1200" dirty="0" smtClean="0"/>
            <a:t>Объединить две </a:t>
          </a:r>
          <a:r>
            <a:rPr lang="en-US" sz="3600" b="0" kern="1200" dirty="0" err="1" smtClean="0"/>
            <a:t>VxLAN</a:t>
          </a:r>
          <a:r>
            <a:rPr lang="ru-RU" sz="3600" b="0" kern="1200" dirty="0" smtClean="0"/>
            <a:t> фабрики по модели </a:t>
          </a:r>
          <a:r>
            <a:rPr lang="en-US" sz="3600" b="0" kern="1200" dirty="0" err="1" smtClean="0"/>
            <a:t>MultiPod</a:t>
          </a:r>
          <a:endParaRPr lang="ru-RU" sz="3600" b="0" kern="1200" dirty="0"/>
        </a:p>
      </dsp:txBody>
      <dsp:txXfrm>
        <a:off x="69908" y="1552302"/>
        <a:ext cx="7171881" cy="1292264"/>
      </dsp:txXfrm>
    </dsp:sp>
    <dsp:sp modelId="{6734F08F-D65E-4321-958E-1F4C8BF0E2AA}">
      <dsp:nvSpPr>
        <dsp:cNvPr id="0" name=""/>
        <dsp:cNvSpPr/>
      </dsp:nvSpPr>
      <dsp:spPr>
        <a:xfrm>
          <a:off x="0" y="2967108"/>
          <a:ext cx="7311697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/>
            <a:t>Обеспечение работы</a:t>
          </a:r>
          <a:r>
            <a:rPr lang="en-US" sz="3600" kern="1200" dirty="0" smtClean="0"/>
            <a:t> </a:t>
          </a:r>
          <a:r>
            <a:rPr lang="ru-RU" sz="3600" kern="1200" dirty="0" smtClean="0"/>
            <a:t>внутри единой фабрики </a:t>
          </a:r>
          <a:r>
            <a:rPr lang="en-US" sz="3600" kern="1200" dirty="0" smtClean="0"/>
            <a:t>L2 </a:t>
          </a:r>
          <a:r>
            <a:rPr lang="ru-RU" sz="3600" kern="1200" dirty="0" smtClean="0"/>
            <a:t>и </a:t>
          </a:r>
          <a:r>
            <a:rPr lang="en-US" sz="3600" kern="1200" dirty="0" smtClean="0"/>
            <a:t>L3 VNI</a:t>
          </a:r>
          <a:endParaRPr lang="ru-RU" sz="3600" kern="1200" dirty="0"/>
        </a:p>
      </dsp:txBody>
      <dsp:txXfrm>
        <a:off x="69908" y="3037016"/>
        <a:ext cx="7171881" cy="12922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574132F-C331-4B82-B77A-A4775765CAC0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658C-CD95-496E-96ED-79FFC0A15176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8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4132F-C331-4B82-B77A-A4775765CAC0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658C-CD95-496E-96ED-79FFC0A15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209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4132F-C331-4B82-B77A-A4775765CAC0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658C-CD95-496E-96ED-79FFC0A15176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49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4132F-C331-4B82-B77A-A4775765CAC0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658C-CD95-496E-96ED-79FFC0A15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05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4132F-C331-4B82-B77A-A4775765CAC0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658C-CD95-496E-96ED-79FFC0A15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152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4132F-C331-4B82-B77A-A4775765CAC0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658C-CD95-496E-96ED-79FFC0A15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050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4132F-C331-4B82-B77A-A4775765CAC0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658C-CD95-496E-96ED-79FFC0A15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959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4132F-C331-4B82-B77A-A4775765CAC0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658C-CD95-496E-96ED-79FFC0A15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23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4132F-C331-4B82-B77A-A4775765CAC0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658C-CD95-496E-96ED-79FFC0A15176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46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4132F-C331-4B82-B77A-A4775765CAC0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658C-CD95-496E-96ED-79FFC0A15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753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4132F-C331-4B82-B77A-A4775765CAC0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658C-CD95-496E-96ED-79FFC0A15176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576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574132F-C331-4B82-B77A-A4775765CAC0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243658C-CD95-496E-96ED-79FFC0A15176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69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375"/>
          </a:xfrm>
          <a:prstGeom prst="rect">
            <a:avLst/>
          </a:prstGeom>
        </p:spPr>
      </p:pic>
      <p:pic>
        <p:nvPicPr>
          <p:cNvPr id="5" name="Google Shape;1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2347" y="387628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50;p35"/>
          <p:cNvSpPr txBox="1"/>
          <p:nvPr/>
        </p:nvSpPr>
        <p:spPr>
          <a:xfrm>
            <a:off x="339785" y="5866410"/>
            <a:ext cx="4659727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b="1" dirty="0">
                <a:solidFill>
                  <a:schemeClr val="accent2">
                    <a:lumMod val="75000"/>
                  </a:schemeClr>
                </a:solidFill>
                <a:latin typeface="Roboto Medium"/>
                <a:ea typeface="Roboto Medium"/>
                <a:cs typeface="Roboto Medium"/>
                <a:sym typeface="Roboto Medium"/>
              </a:rPr>
              <a:t>Название </a:t>
            </a:r>
            <a:r>
              <a:rPr lang="ru" sz="1900" b="1" dirty="0" smtClean="0">
                <a:solidFill>
                  <a:schemeClr val="accent2">
                    <a:lumMod val="75000"/>
                  </a:schemeClr>
                </a:solidFill>
                <a:latin typeface="Roboto Medium"/>
                <a:ea typeface="Roboto Medium"/>
                <a:cs typeface="Roboto Medium"/>
                <a:sym typeface="Roboto Medium"/>
              </a:rPr>
              <a:t>курса</a:t>
            </a:r>
            <a:r>
              <a:rPr lang="en-US" sz="1900" b="1" dirty="0" smtClean="0">
                <a:solidFill>
                  <a:schemeClr val="accent2">
                    <a:lumMod val="75000"/>
                  </a:schemeClr>
                </a:solidFill>
                <a:latin typeface="Roboto Medium"/>
                <a:ea typeface="Roboto Medium"/>
                <a:cs typeface="Roboto Medium"/>
                <a:sym typeface="Roboto Medium"/>
              </a:rPr>
              <a:t>: </a:t>
            </a:r>
            <a:r>
              <a:rPr lang="ru-RU" sz="1900" b="1" dirty="0" smtClean="0">
                <a:solidFill>
                  <a:schemeClr val="accent2">
                    <a:lumMod val="75000"/>
                  </a:schemeClr>
                </a:solidFill>
                <a:latin typeface="Roboto Medium"/>
                <a:ea typeface="Roboto Medium"/>
                <a:cs typeface="Roboto Medium"/>
                <a:sym typeface="Roboto Medium"/>
              </a:rPr>
              <a:t>Дизайн сетей ЦОД</a:t>
            </a:r>
            <a:endParaRPr sz="100" b="1" dirty="0">
              <a:solidFill>
                <a:schemeClr val="accent2">
                  <a:lumMod val="75000"/>
                </a:schemeClr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" name="Google Shape;147;p35"/>
          <p:cNvSpPr txBox="1"/>
          <p:nvPr/>
        </p:nvSpPr>
        <p:spPr>
          <a:xfrm>
            <a:off x="170366" y="387628"/>
            <a:ext cx="7584300" cy="849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 smtClean="0">
                <a:solidFill>
                  <a:schemeClr val="accent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Проектирование сетевой фабрики на основе </a:t>
            </a:r>
            <a:r>
              <a:rPr lang="en-US" sz="2400" b="1" dirty="0" err="1" smtClean="0">
                <a:solidFill>
                  <a:schemeClr val="accent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VxLAN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EVPN</a:t>
            </a:r>
            <a:endParaRPr sz="2400" b="1" dirty="0">
              <a:solidFill>
                <a:schemeClr val="accent2">
                  <a:lumMod val="7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07100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375"/>
          </a:xfrm>
          <a:prstGeom prst="rect">
            <a:avLst/>
          </a:prstGeom>
        </p:spPr>
      </p:pic>
      <p:sp>
        <p:nvSpPr>
          <p:cNvPr id="5" name="Google Shape;156;p36"/>
          <p:cNvSpPr txBox="1">
            <a:spLocks/>
          </p:cNvSpPr>
          <p:nvPr/>
        </p:nvSpPr>
        <p:spPr>
          <a:xfrm>
            <a:off x="407794" y="672253"/>
            <a:ext cx="79353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ru-RU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Roboto"/>
                <a:sym typeface="Roboto"/>
              </a:rPr>
              <a:t>Меня хорошо видно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Roboto"/>
              <a:buNone/>
              <a:tabLst/>
              <a:defRPr/>
            </a:pPr>
            <a:r>
              <a:rPr kumimoji="0" lang="ru-RU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Roboto"/>
                <a:sym typeface="Roboto"/>
              </a:rPr>
              <a:t>&amp; слышно?</a:t>
            </a:r>
            <a:endParaRPr kumimoji="0" lang="ru-RU" sz="40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"/>
              <a:sym typeface="Roboto"/>
            </a:endParaRPr>
          </a:p>
        </p:txBody>
      </p:sp>
      <p:pic>
        <p:nvPicPr>
          <p:cNvPr id="6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9318" y="5931132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52347" y="5931132"/>
            <a:ext cx="537262" cy="537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4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52347" y="387628"/>
            <a:ext cx="822175" cy="284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67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375"/>
          </a:xfrm>
          <a:prstGeom prst="rect">
            <a:avLst/>
          </a:prstGeom>
        </p:spPr>
      </p:pic>
      <p:sp>
        <p:nvSpPr>
          <p:cNvPr id="3" name="Google Shape;163;p37"/>
          <p:cNvSpPr txBox="1">
            <a:spLocks/>
          </p:cNvSpPr>
          <p:nvPr/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b="1" dirty="0" smtClean="0">
                <a:solidFill>
                  <a:schemeClr val="accent2">
                    <a:lumMod val="75000"/>
                  </a:schemeClr>
                </a:solidFill>
              </a:rPr>
              <a:t>Защита проекта</a:t>
            </a:r>
          </a:p>
          <a:p>
            <a:pPr algn="l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en-US" sz="36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pPr algn="l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ru-RU" sz="2800" dirty="0" smtClean="0">
                <a:solidFill>
                  <a:schemeClr val="accent2">
                    <a:lumMod val="75000"/>
                  </a:schemeClr>
                </a:solidFill>
              </a:rPr>
              <a:t>Тема: </a:t>
            </a:r>
            <a:r>
              <a:rPr lang="ru-RU" sz="2800" dirty="0" smtClean="0">
                <a:solidFill>
                  <a:schemeClr val="accent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Проектирование сетевой фабрики на основе </a:t>
            </a:r>
            <a:r>
              <a:rPr lang="ru-RU" sz="2800" dirty="0" err="1" smtClean="0">
                <a:solidFill>
                  <a:schemeClr val="accent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VxLAN</a:t>
            </a:r>
            <a:r>
              <a:rPr lang="ru-RU" sz="2800" dirty="0" smtClean="0">
                <a:solidFill>
                  <a:schemeClr val="accent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EVPN</a:t>
            </a:r>
          </a:p>
          <a:p>
            <a:pPr algn="l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ru-RU" sz="3000" dirty="0" smtClean="0"/>
          </a:p>
          <a:p>
            <a:pPr algn="l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ru-RU" dirty="0" smtClean="0"/>
          </a:p>
          <a:p>
            <a:pPr algn="l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ru-RU" dirty="0" smtClean="0"/>
          </a:p>
          <a:p>
            <a:pPr algn="l">
              <a:spcBef>
                <a:spcPts val="0"/>
              </a:spcBef>
            </a:pP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8360229" y="5330388"/>
            <a:ext cx="3515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Горбань Андрей Иванович</a:t>
            </a:r>
          </a:p>
          <a:p>
            <a:pPr algn="r"/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АО ВТБ Лизинг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Google Shape;1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2347" y="387628"/>
            <a:ext cx="822175" cy="284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366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37"/>
            <a:ext cx="12192000" cy="6858375"/>
          </a:xfrm>
          <a:prstGeom prst="rect">
            <a:avLst/>
          </a:prstGeom>
        </p:spPr>
      </p:pic>
      <p:sp>
        <p:nvSpPr>
          <p:cNvPr id="3" name="Google Shape;171;p38"/>
          <p:cNvSpPr txBox="1">
            <a:spLocks/>
          </p:cNvSpPr>
          <p:nvPr/>
        </p:nvSpPr>
        <p:spPr>
          <a:xfrm>
            <a:off x="538550" y="348974"/>
            <a:ext cx="8520600" cy="79403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4400" b="1" dirty="0" smtClean="0">
                <a:solidFill>
                  <a:schemeClr val="accent2">
                    <a:lumMod val="75000"/>
                  </a:schemeClr>
                </a:solidFill>
              </a:rPr>
              <a:t>План защиты</a:t>
            </a:r>
            <a:endParaRPr lang="ru-RU" sz="4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Google Shape;1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2347" y="387628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sz="1400" kern="0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Что можно было добавить</a:t>
            </a:r>
            <a:r>
              <a:rPr lang="en-US" sz="1400" kern="0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\</a:t>
            </a:r>
            <a:r>
              <a:rPr lang="ru-RU" sz="1400" kern="0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улучшить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" name="Google Shape;176;p38"/>
          <p:cNvCxnSpPr>
            <a:stCxn id="32" idx="1"/>
            <a:endCxn id="3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7" name="Google Shape;177;p38"/>
          <p:cNvCxnSpPr>
            <a:stCxn id="33" idx="1"/>
            <a:endCxn id="3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8" name="Google Shape;178;p38"/>
          <p:cNvCxnSpPr>
            <a:stCxn id="34" idx="1"/>
            <a:endCxn id="3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9" name="Google Shape;179;p38"/>
          <p:cNvCxnSpPr>
            <a:stCxn id="35" idx="1"/>
            <a:endCxn id="4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98916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375"/>
          </a:xfrm>
          <a:prstGeom prst="rect">
            <a:avLst/>
          </a:prstGeom>
        </p:spPr>
      </p:pic>
      <p:sp>
        <p:nvSpPr>
          <p:cNvPr id="3" name="Google Shape;171;p38"/>
          <p:cNvSpPr txBox="1">
            <a:spLocks/>
          </p:cNvSpPr>
          <p:nvPr/>
        </p:nvSpPr>
        <p:spPr>
          <a:xfrm>
            <a:off x="538550" y="348974"/>
            <a:ext cx="8520600" cy="79403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4400" b="1" dirty="0" smtClean="0">
                <a:solidFill>
                  <a:schemeClr val="accent2">
                    <a:lumMod val="75000"/>
                  </a:schemeClr>
                </a:solidFill>
              </a:rPr>
              <a:t>Цели и задачи проекта</a:t>
            </a:r>
            <a:endParaRPr lang="ru-RU" sz="4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Google Shape;1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2347" y="387628"/>
            <a:ext cx="822175" cy="284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297728413"/>
              </p:ext>
            </p:extLst>
          </p:nvPr>
        </p:nvGraphicFramePr>
        <p:xfrm>
          <a:off x="665655" y="1308245"/>
          <a:ext cx="7311697" cy="4419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Google Shape;276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04862" y="527503"/>
            <a:ext cx="436975" cy="4369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5604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375"/>
          </a:xfrm>
          <a:prstGeom prst="rect">
            <a:avLst/>
          </a:prstGeom>
        </p:spPr>
      </p:pic>
      <p:sp>
        <p:nvSpPr>
          <p:cNvPr id="3" name="Google Shape;171;p38"/>
          <p:cNvSpPr txBox="1">
            <a:spLocks/>
          </p:cNvSpPr>
          <p:nvPr/>
        </p:nvSpPr>
        <p:spPr>
          <a:xfrm>
            <a:off x="538550" y="348974"/>
            <a:ext cx="8520600" cy="79403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4400" b="1" dirty="0" smtClean="0">
                <a:solidFill>
                  <a:schemeClr val="accent2">
                    <a:lumMod val="75000"/>
                  </a:schemeClr>
                </a:solidFill>
              </a:rPr>
              <a:t>Используемые технологии</a:t>
            </a:r>
            <a:endParaRPr lang="ru-RU" sz="4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Google Shape;1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2347" y="387628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756745" y="1723697"/>
            <a:ext cx="8534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OSPF &amp; IS-IS – UNDERLAY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BGP (</a:t>
            </a:r>
            <a:r>
              <a:rPr lang="en-US" sz="2400" dirty="0" err="1" smtClean="0">
                <a:solidFill>
                  <a:schemeClr val="bg1"/>
                </a:solidFill>
              </a:rPr>
              <a:t>iBGP</a:t>
            </a:r>
            <a:r>
              <a:rPr lang="en-US" sz="2400" dirty="0" smtClean="0">
                <a:solidFill>
                  <a:schemeClr val="bg1"/>
                </a:solidFill>
              </a:rPr>
              <a:t> &amp; </a:t>
            </a:r>
            <a:r>
              <a:rPr lang="en-US" sz="2400" dirty="0" err="1" smtClean="0">
                <a:solidFill>
                  <a:schemeClr val="bg1"/>
                </a:solidFill>
              </a:rPr>
              <a:t>eBGP</a:t>
            </a:r>
            <a:r>
              <a:rPr lang="en-US" sz="2400" dirty="0" smtClean="0">
                <a:solidFill>
                  <a:schemeClr val="bg1"/>
                </a:solidFill>
              </a:rPr>
              <a:t>)</a:t>
            </a:r>
            <a:r>
              <a:rPr lang="ru-RU" sz="2400" dirty="0" smtClean="0">
                <a:solidFill>
                  <a:schemeClr val="bg1"/>
                </a:solidFill>
              </a:rPr>
              <a:t> – </a:t>
            </a:r>
            <a:r>
              <a:rPr lang="en-US" sz="2400" dirty="0" smtClean="0">
                <a:solidFill>
                  <a:schemeClr val="bg1"/>
                </a:solidFill>
              </a:rPr>
              <a:t>OVERLAY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schemeClr val="bg1"/>
                </a:solidFill>
              </a:rPr>
              <a:t>VxLAN</a:t>
            </a:r>
            <a:r>
              <a:rPr lang="en-US" sz="2400" dirty="0" smtClean="0">
                <a:solidFill>
                  <a:schemeClr val="bg1"/>
                </a:solidFill>
              </a:rPr>
              <a:t>/EVPN – </a:t>
            </a:r>
            <a:r>
              <a:rPr lang="ru-RU" sz="2400" dirty="0" smtClean="0">
                <a:solidFill>
                  <a:schemeClr val="bg1"/>
                </a:solidFill>
              </a:rPr>
              <a:t>Инкапсуляция и Распространение информации внутри фабрики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schemeClr val="bg1"/>
                </a:solidFill>
              </a:rPr>
              <a:t>vPC</a:t>
            </a:r>
            <a:r>
              <a:rPr lang="en-US" sz="2400" dirty="0" smtClean="0">
                <a:solidFill>
                  <a:schemeClr val="bg1"/>
                </a:solidFill>
              </a:rPr>
              <a:t> – </a:t>
            </a:r>
            <a:r>
              <a:rPr lang="ru-RU" sz="2400" dirty="0" smtClean="0">
                <a:solidFill>
                  <a:schemeClr val="bg1"/>
                </a:solidFill>
              </a:rPr>
              <a:t>Объединение пары </a:t>
            </a:r>
            <a:r>
              <a:rPr lang="en-US" sz="2400" dirty="0" smtClean="0">
                <a:solidFill>
                  <a:schemeClr val="bg1"/>
                </a:solidFill>
              </a:rPr>
              <a:t>Leaf </a:t>
            </a:r>
            <a:r>
              <a:rPr lang="ru-RU" sz="2400" dirty="0" smtClean="0">
                <a:solidFill>
                  <a:schemeClr val="bg1"/>
                </a:solidFill>
              </a:rPr>
              <a:t>в единый </a:t>
            </a:r>
            <a:r>
              <a:rPr lang="en-US" sz="2400" dirty="0" smtClean="0">
                <a:solidFill>
                  <a:schemeClr val="bg1"/>
                </a:solidFill>
              </a:rPr>
              <a:t>Peer</a:t>
            </a:r>
            <a:r>
              <a:rPr lang="ru-RU" sz="2400" dirty="0" smtClean="0">
                <a:solidFill>
                  <a:schemeClr val="bg1"/>
                </a:solidFill>
              </a:rPr>
              <a:t> для конечного хоста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6" name="Google Shape;28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8010" y="529940"/>
            <a:ext cx="493249" cy="493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110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375"/>
          </a:xfrm>
          <a:prstGeom prst="rect">
            <a:avLst/>
          </a:prstGeom>
        </p:spPr>
      </p:pic>
      <p:sp>
        <p:nvSpPr>
          <p:cNvPr id="3" name="Google Shape;171;p38"/>
          <p:cNvSpPr txBox="1">
            <a:spLocks/>
          </p:cNvSpPr>
          <p:nvPr/>
        </p:nvSpPr>
        <p:spPr>
          <a:xfrm>
            <a:off x="538550" y="348974"/>
            <a:ext cx="8520600" cy="79403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4400" b="1" dirty="0" smtClean="0">
                <a:solidFill>
                  <a:schemeClr val="accent2">
                    <a:lumMod val="75000"/>
                  </a:schemeClr>
                </a:solidFill>
              </a:rPr>
              <a:t>Схема сети</a:t>
            </a:r>
            <a:endParaRPr lang="ru-RU" sz="4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Google Shape;1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2347" y="387628"/>
            <a:ext cx="822175" cy="28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31" y="1059881"/>
            <a:ext cx="10867697" cy="564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3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375"/>
          </a:xfrm>
          <a:prstGeom prst="rect">
            <a:avLst/>
          </a:prstGeom>
        </p:spPr>
      </p:pic>
      <p:sp>
        <p:nvSpPr>
          <p:cNvPr id="3" name="Google Shape;171;p38"/>
          <p:cNvSpPr txBox="1">
            <a:spLocks/>
          </p:cNvSpPr>
          <p:nvPr/>
        </p:nvSpPr>
        <p:spPr>
          <a:xfrm>
            <a:off x="538550" y="348974"/>
            <a:ext cx="8520600" cy="79403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4400" b="1" dirty="0" smtClean="0">
                <a:solidFill>
                  <a:schemeClr val="accent2">
                    <a:lumMod val="75000"/>
                  </a:schemeClr>
                </a:solidFill>
              </a:rPr>
              <a:t>Что получилось</a:t>
            </a:r>
            <a:endParaRPr lang="ru-RU" sz="4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Google Shape;1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2347" y="387628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1;p38"/>
          <p:cNvSpPr txBox="1">
            <a:spLocks/>
          </p:cNvSpPr>
          <p:nvPr/>
        </p:nvSpPr>
        <p:spPr>
          <a:xfrm>
            <a:off x="349364" y="1143007"/>
            <a:ext cx="8520600" cy="145883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2400" b="1" dirty="0" smtClean="0">
                <a:solidFill>
                  <a:schemeClr val="bg1"/>
                </a:solidFill>
              </a:rPr>
              <a:t>Все конечные хосты видят друг друга внутри единой фабрики </a:t>
            </a:r>
            <a:r>
              <a:rPr lang="en-US" sz="2400" b="1" dirty="0" err="1" smtClean="0">
                <a:solidFill>
                  <a:schemeClr val="bg1"/>
                </a:solidFill>
              </a:rPr>
              <a:t>VxLAN</a:t>
            </a:r>
            <a:endParaRPr lang="en-US" sz="2400" b="1" dirty="0" smtClean="0">
              <a:solidFill>
                <a:schemeClr val="bg1"/>
              </a:solidFill>
            </a:endParaRPr>
          </a:p>
          <a:p>
            <a:pPr algn="l">
              <a:spcBef>
                <a:spcPts val="0"/>
              </a:spcBef>
            </a:pPr>
            <a:endParaRPr lang="ru-RU" sz="4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67" y="1999905"/>
            <a:ext cx="3885826" cy="478733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655" y="1999905"/>
            <a:ext cx="4016223" cy="478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4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375"/>
          </a:xfrm>
          <a:prstGeom prst="rect">
            <a:avLst/>
          </a:prstGeom>
        </p:spPr>
      </p:pic>
      <p:sp>
        <p:nvSpPr>
          <p:cNvPr id="3" name="Google Shape;171;p38"/>
          <p:cNvSpPr txBox="1">
            <a:spLocks/>
          </p:cNvSpPr>
          <p:nvPr/>
        </p:nvSpPr>
        <p:spPr>
          <a:xfrm>
            <a:off x="538550" y="348974"/>
            <a:ext cx="8520600" cy="79403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4400" b="1" dirty="0" smtClean="0">
                <a:solidFill>
                  <a:schemeClr val="accent2">
                    <a:lumMod val="75000"/>
                  </a:schemeClr>
                </a:solidFill>
              </a:rPr>
              <a:t>Что получилось</a:t>
            </a:r>
            <a:endParaRPr lang="ru-RU" sz="4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Google Shape;1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2347" y="387628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1;p38"/>
          <p:cNvSpPr txBox="1">
            <a:spLocks/>
          </p:cNvSpPr>
          <p:nvPr/>
        </p:nvSpPr>
        <p:spPr>
          <a:xfrm>
            <a:off x="349364" y="1143007"/>
            <a:ext cx="8520600" cy="145883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2400" b="1" dirty="0" smtClean="0">
                <a:solidFill>
                  <a:schemeClr val="bg1"/>
                </a:solidFill>
              </a:rPr>
              <a:t>Вся информация о хостах передается внутри фабрики между всеми </a:t>
            </a:r>
            <a:r>
              <a:rPr lang="en-US" sz="2400" b="1" dirty="0" smtClean="0">
                <a:solidFill>
                  <a:schemeClr val="bg1"/>
                </a:solidFill>
              </a:rPr>
              <a:t>POD</a:t>
            </a:r>
            <a:r>
              <a:rPr lang="ru-RU" sz="2400" b="1" dirty="0" smtClean="0">
                <a:solidFill>
                  <a:schemeClr val="bg1"/>
                </a:solidFill>
              </a:rPr>
              <a:t> в едином </a:t>
            </a:r>
            <a:r>
              <a:rPr lang="en-US" sz="2400" b="1" dirty="0" smtClean="0">
                <a:solidFill>
                  <a:schemeClr val="bg1"/>
                </a:solidFill>
              </a:rPr>
              <a:t>VRF</a:t>
            </a:r>
          </a:p>
          <a:p>
            <a:pPr algn="l">
              <a:spcBef>
                <a:spcPts val="0"/>
              </a:spcBef>
            </a:pPr>
            <a:endParaRPr lang="ru-RU" sz="4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49364" y="2175642"/>
            <a:ext cx="5065986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Leaf1-2# </a:t>
            </a:r>
            <a:r>
              <a:rPr lang="en-US" sz="1400" dirty="0" err="1"/>
              <a:t>sho</a:t>
            </a:r>
            <a:r>
              <a:rPr lang="en-US" sz="1400" dirty="0"/>
              <a:t> </a:t>
            </a:r>
            <a:r>
              <a:rPr lang="en-US" sz="1400" dirty="0" err="1"/>
              <a:t>bgp</a:t>
            </a:r>
            <a:r>
              <a:rPr lang="en-US" sz="1400" dirty="0"/>
              <a:t> l2vpn </a:t>
            </a:r>
            <a:r>
              <a:rPr lang="en-US" sz="1400" dirty="0" err="1"/>
              <a:t>evpn</a:t>
            </a:r>
            <a:r>
              <a:rPr lang="en-US" sz="1400" dirty="0"/>
              <a:t> | include 192.168.</a:t>
            </a:r>
          </a:p>
          <a:p>
            <a:r>
              <a:rPr lang="en-US" sz="1400" dirty="0"/>
              <a:t>*&gt;i[2]:[0]:[0]:[48]:[0050.7966.6812]:[32]:[192.168.2.10]/272</a:t>
            </a:r>
          </a:p>
          <a:p>
            <a:r>
              <a:rPr lang="en-US" sz="1400" dirty="0"/>
              <a:t>*&gt;l[2]:[0]:[0]:[48]:[0050.7966.6813]:[32]:[192.168.2.20]/272</a:t>
            </a:r>
          </a:p>
          <a:p>
            <a:r>
              <a:rPr lang="en-US" sz="1400" dirty="0"/>
              <a:t>*&gt;i[2]:[0]:[0]:[48]:[0050.7966.680e]:[32]:[192.168.12.10]/272</a:t>
            </a:r>
          </a:p>
          <a:p>
            <a:r>
              <a:rPr lang="en-US" sz="1400" dirty="0"/>
              <a:t>*&gt;i[2]:[0]:[0]:[48]:[0050.7966.6811]:[32]:[192.168.12.20]/272</a:t>
            </a:r>
          </a:p>
          <a:p>
            <a:r>
              <a:rPr lang="en-US" sz="1400" dirty="0"/>
              <a:t>*&gt;i[2]:[0]:[0]:[48]:[0050.7966.680f]:[32]:[192.168.15.10]/272</a:t>
            </a:r>
          </a:p>
          <a:p>
            <a:r>
              <a:rPr lang="en-US" sz="1400" dirty="0"/>
              <a:t>*&gt;l[2]:[0]:[0]:[48]:[0050.7966.6810]:[32]:[192.168.15.20]/272</a:t>
            </a:r>
          </a:p>
          <a:p>
            <a:r>
              <a:rPr lang="en-US" sz="1400" dirty="0"/>
              <a:t>* i[2]:[0]:[0]:[48]:[0050.7966.680e]:[32]:[192.168.12.10]/272</a:t>
            </a:r>
          </a:p>
          <a:p>
            <a:r>
              <a:rPr lang="en-US" sz="1400" dirty="0"/>
              <a:t>* i[2]:[0]:[0]:[48]:[0050.7966.680f]:[32]:[192.168.15.10]/272</a:t>
            </a:r>
          </a:p>
          <a:p>
            <a:r>
              <a:rPr lang="en-US" sz="1400" dirty="0"/>
              <a:t>* i[2]:[0]:[0]:[48]:[0050.7966.680e]:[32]:[192.168.12.10]/272</a:t>
            </a:r>
          </a:p>
          <a:p>
            <a:r>
              <a:rPr lang="en-US" sz="1400" dirty="0"/>
              <a:t>* i[2]:[0]:[0]:[48]:[0050.7966.680f]:[32]:[192.168.15.10]/272</a:t>
            </a:r>
          </a:p>
          <a:p>
            <a:r>
              <a:rPr lang="en-US" sz="1400" dirty="0"/>
              <a:t>* i[2]:[0]:[0]:[48]:[0050.7966.6812]:[32]:[192.168.2.10]/272</a:t>
            </a:r>
          </a:p>
          <a:p>
            <a:r>
              <a:rPr lang="en-US" sz="1400" dirty="0"/>
              <a:t>* i[2]:[0]:[0]:[48]:[0050.7966.6811]:[32]:[192.168.12.20]/272</a:t>
            </a:r>
          </a:p>
          <a:p>
            <a:r>
              <a:rPr lang="en-US" sz="1400" dirty="0"/>
              <a:t>*&gt;i[2]:[0]:[0]:[48]:[0050.7966.6812]:[32]:[192.168.2.10]/272</a:t>
            </a:r>
          </a:p>
          <a:p>
            <a:r>
              <a:rPr lang="en-US" sz="1400" dirty="0"/>
              <a:t>*&gt;i[2]:[0]:[0]:[48]:[0050.7966.6811]:[32]:[192.168.12.20]/272</a:t>
            </a:r>
          </a:p>
          <a:p>
            <a:r>
              <a:rPr lang="en-US" sz="1400" dirty="0"/>
              <a:t>*&gt;i[2]:[0]:[0]:[48]:[0050.7966.680e]:[32]:[192.168.12.10]/272</a:t>
            </a:r>
          </a:p>
          <a:p>
            <a:r>
              <a:rPr lang="en-US" sz="1400" dirty="0"/>
              <a:t>*&gt;i[2]:[0]:[0]:[48]:[0050.7966.680f]:[32]:[192.168.15.10]/272</a:t>
            </a:r>
          </a:p>
          <a:p>
            <a:r>
              <a:rPr lang="en-US" sz="1400" dirty="0"/>
              <a:t>*&gt;i[2]:[0]:[0]:[48]:[0050.7966.6811]:[32]:[192.168.12.20]/272</a:t>
            </a:r>
          </a:p>
          <a:p>
            <a:r>
              <a:rPr lang="en-US" sz="1400" dirty="0"/>
              <a:t>*&gt;i[2]:[0]:[0]:[48]:[0050.7966.6812]:[32]:[192.168.2.10]/272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96303" y="2175642"/>
            <a:ext cx="4991648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Leaf2-2# </a:t>
            </a:r>
            <a:r>
              <a:rPr lang="en-US" sz="1400" dirty="0" err="1"/>
              <a:t>sho</a:t>
            </a:r>
            <a:r>
              <a:rPr lang="en-US" sz="1400" dirty="0"/>
              <a:t> </a:t>
            </a:r>
            <a:r>
              <a:rPr lang="en-US" sz="1400" dirty="0" err="1"/>
              <a:t>bgp</a:t>
            </a:r>
            <a:r>
              <a:rPr lang="en-US" sz="1400" dirty="0"/>
              <a:t> l2vpn </a:t>
            </a:r>
            <a:r>
              <a:rPr lang="en-US" sz="1400" dirty="0" err="1"/>
              <a:t>evpn</a:t>
            </a:r>
            <a:r>
              <a:rPr lang="en-US" sz="1400" dirty="0"/>
              <a:t> | include 192.168.</a:t>
            </a:r>
          </a:p>
          <a:p>
            <a:r>
              <a:rPr lang="en-US" sz="1400" dirty="0"/>
              <a:t>x i[2]:[0]:[0]:[48]:[0050.7966.6813]:[32]:[192.168.2.20]/272</a:t>
            </a:r>
          </a:p>
          <a:p>
            <a:r>
              <a:rPr lang="en-US" sz="1400" dirty="0"/>
              <a:t>x i[2]:[0]:[0]:[48]:[0050.7966.6810]:[32]:[192.168.15.20]/272</a:t>
            </a:r>
          </a:p>
          <a:p>
            <a:r>
              <a:rPr lang="en-US" sz="1400" dirty="0"/>
              <a:t>x i[2]:[0]:[0]:[48]:[0050.7966.6813]:[32]:[192.168.2.20]/272</a:t>
            </a:r>
          </a:p>
          <a:p>
            <a:r>
              <a:rPr lang="en-US" sz="1400" dirty="0"/>
              <a:t>x i[2]:[0]:[0]:[48]:[0050.7966.6810]:[32]:[192.168.15.20]/272</a:t>
            </a:r>
          </a:p>
          <a:p>
            <a:r>
              <a:rPr lang="en-US" sz="1400" dirty="0"/>
              <a:t>x i[2]:[0]:[0]:[48]:[0050.7966.680e]:[32]:[192.168.12.10]/272</a:t>
            </a:r>
          </a:p>
          <a:p>
            <a:r>
              <a:rPr lang="en-US" sz="1400" dirty="0"/>
              <a:t>x i[2]:[0]:[0]:[48]:[0050.7966.680f]:[32]:[192.168.15.10]/272</a:t>
            </a:r>
          </a:p>
          <a:p>
            <a:r>
              <a:rPr lang="en-US" sz="1400" dirty="0"/>
              <a:t>x i[2]:[0]:[0]:[48]:[0050.7966.680e]:[32]:[192.168.12.10]/272</a:t>
            </a:r>
          </a:p>
          <a:p>
            <a:r>
              <a:rPr lang="en-US" sz="1400" dirty="0"/>
              <a:t>x i[2]:[0]:[0]:[48]:[0050.7966.680f]:[32]:[192.168.15.10]/272</a:t>
            </a:r>
          </a:p>
          <a:p>
            <a:r>
              <a:rPr lang="en-US" sz="1400" dirty="0"/>
              <a:t>*&gt;l[2]:[0]:[0]:[48]:[0050.7966.6812]:[32]:[192.168.2.10]/272</a:t>
            </a:r>
          </a:p>
          <a:p>
            <a:r>
              <a:rPr lang="en-US" sz="1400" dirty="0"/>
              <a:t>*&gt;i[2]:[0]:[0]:[48]:[0050.7966.6813]:[32]:[192.168.2.20]/272</a:t>
            </a:r>
          </a:p>
          <a:p>
            <a:r>
              <a:rPr lang="en-US" sz="1400" dirty="0"/>
              <a:t>*&gt;i[2]:[0]:[0]:[48]:[0050.7966.680e]:[32]:[192.168.12.10]/272</a:t>
            </a:r>
          </a:p>
          <a:p>
            <a:r>
              <a:rPr lang="en-US" sz="1400" dirty="0"/>
              <a:t>*&gt;l[2]:[0]:[0]:[48]:[0050.7966.6811]:[32]:[192.168.12.20]/272</a:t>
            </a:r>
          </a:p>
          <a:p>
            <a:r>
              <a:rPr lang="en-US" sz="1400" dirty="0"/>
              <a:t>*&gt;i[2]:[0]:[0]:[48]:[0050.7966.680f]:[32]:[192.168.15.10]/272</a:t>
            </a:r>
          </a:p>
          <a:p>
            <a:r>
              <a:rPr lang="en-US" sz="1400" dirty="0"/>
              <a:t>*&gt;i[2]:[0]:[0]:[48]:[0050.7966.6810]:[32]:[192.168.15.20]/272</a:t>
            </a:r>
          </a:p>
          <a:p>
            <a:r>
              <a:rPr lang="en-US" sz="1400" dirty="0"/>
              <a:t>*&gt;i[2]:[0]:[0]:[48]:[0050.7966.680e]:[32]:[192.168.12.10]/272</a:t>
            </a:r>
          </a:p>
          <a:p>
            <a:r>
              <a:rPr lang="en-US" sz="1400" dirty="0"/>
              <a:t>*&gt;i[2]:[0]:[0]:[48]:[0050.7966.680f]:[32]:[192.168.15.10]/272</a:t>
            </a:r>
          </a:p>
          <a:p>
            <a:r>
              <a:rPr lang="en-US" sz="1400" dirty="0"/>
              <a:t>*&gt;i[2]:[0]:[0]:[48]:[0050.7966.6810]:[32]:[192.168.15.20]/272</a:t>
            </a:r>
          </a:p>
          <a:p>
            <a:r>
              <a:rPr lang="en-US" sz="1400" dirty="0"/>
              <a:t>*&gt;i[2]:[0]:[0]:[48]:[0050.7966.6813]:[32]:[192.168.2.20]/272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85697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375"/>
          </a:xfrm>
          <a:prstGeom prst="rect">
            <a:avLst/>
          </a:prstGeom>
        </p:spPr>
      </p:pic>
      <p:sp>
        <p:nvSpPr>
          <p:cNvPr id="5" name="Google Shape;171;p38"/>
          <p:cNvSpPr txBox="1">
            <a:spLocks/>
          </p:cNvSpPr>
          <p:nvPr/>
        </p:nvSpPr>
        <p:spPr>
          <a:xfrm>
            <a:off x="538550" y="348974"/>
            <a:ext cx="8520600" cy="79403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4400" b="1" dirty="0" smtClean="0">
                <a:solidFill>
                  <a:schemeClr val="accent2">
                    <a:lumMod val="75000"/>
                  </a:schemeClr>
                </a:solidFill>
              </a:rPr>
              <a:t>Что получилось</a:t>
            </a:r>
            <a:endParaRPr lang="ru-RU" sz="4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Google Shape;1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2347" y="387628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71;p38"/>
          <p:cNvSpPr txBox="1">
            <a:spLocks/>
          </p:cNvSpPr>
          <p:nvPr/>
        </p:nvSpPr>
        <p:spPr>
          <a:xfrm>
            <a:off x="349364" y="1143007"/>
            <a:ext cx="8520600" cy="84943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2400" b="1" dirty="0" smtClean="0">
                <a:solidFill>
                  <a:schemeClr val="bg1"/>
                </a:solidFill>
              </a:rPr>
              <a:t>На каждой паре </a:t>
            </a:r>
            <a:r>
              <a:rPr lang="en-US" sz="2400" b="1" dirty="0" smtClean="0">
                <a:solidFill>
                  <a:schemeClr val="bg1"/>
                </a:solidFill>
              </a:rPr>
              <a:t>Leaf </a:t>
            </a:r>
            <a:r>
              <a:rPr lang="ru-RU" sz="2400" b="1" dirty="0" smtClean="0">
                <a:solidFill>
                  <a:schemeClr val="bg1"/>
                </a:solidFill>
              </a:rPr>
              <a:t>выполнена настройка </a:t>
            </a:r>
            <a:r>
              <a:rPr lang="en-US" sz="2400" b="1" dirty="0" err="1" smtClean="0">
                <a:solidFill>
                  <a:schemeClr val="bg1"/>
                </a:solidFill>
              </a:rPr>
              <a:t>vPC</a:t>
            </a:r>
            <a:r>
              <a:rPr lang="ru-RU" sz="2400" b="1" dirty="0" smtClean="0">
                <a:solidFill>
                  <a:schemeClr val="bg1"/>
                </a:solidFill>
              </a:rPr>
              <a:t>, тем самым обеспечено резервирование конечным хостам  </a:t>
            </a:r>
            <a:endParaRPr lang="ru-RU" sz="4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49364" y="2332527"/>
            <a:ext cx="5580992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Leaf1-1# </a:t>
            </a:r>
            <a:r>
              <a:rPr lang="en-US" sz="1400" dirty="0" err="1"/>
              <a:t>sho</a:t>
            </a:r>
            <a:r>
              <a:rPr lang="en-US" sz="1400" dirty="0"/>
              <a:t> mac address-table</a:t>
            </a:r>
          </a:p>
          <a:p>
            <a:r>
              <a:rPr lang="en-US" sz="1400" dirty="0"/>
              <a:t>Legend:</a:t>
            </a:r>
          </a:p>
          <a:p>
            <a:r>
              <a:rPr lang="en-US" sz="1400" dirty="0"/>
              <a:t>        * - primary entry, G - Gateway MAC, (R) - Routed MAC, O - Overlay MAC</a:t>
            </a:r>
          </a:p>
          <a:p>
            <a:r>
              <a:rPr lang="en-US" sz="1400" dirty="0"/>
              <a:t>        age - seconds since last seen,+ - primary entry using </a:t>
            </a:r>
            <a:r>
              <a:rPr lang="en-US" sz="1400" dirty="0" err="1"/>
              <a:t>vPC</a:t>
            </a:r>
            <a:r>
              <a:rPr lang="en-US" sz="1400" dirty="0"/>
              <a:t> Peer-Link,</a:t>
            </a:r>
          </a:p>
          <a:p>
            <a:r>
              <a:rPr lang="en-US" sz="1400" dirty="0"/>
              <a:t>        (T) - True, (F) - False, C - </a:t>
            </a:r>
            <a:r>
              <a:rPr lang="en-US" sz="1400" dirty="0" err="1"/>
              <a:t>ControlPlane</a:t>
            </a:r>
            <a:r>
              <a:rPr lang="en-US" sz="1400" dirty="0"/>
              <a:t> MAC, ~ - </a:t>
            </a:r>
            <a:r>
              <a:rPr lang="en-US" sz="1400" dirty="0" err="1"/>
              <a:t>vsan</a:t>
            </a:r>
            <a:endParaRPr lang="en-US" sz="1400" dirty="0"/>
          </a:p>
          <a:p>
            <a:r>
              <a:rPr lang="en-US" sz="1400" dirty="0"/>
              <a:t>   VLAN     MAC Address      Type      age     Secure NTFY Ports</a:t>
            </a:r>
          </a:p>
          <a:p>
            <a:r>
              <a:rPr lang="en-US" sz="1400" dirty="0"/>
              <a:t>---------+-----------------+--------+---------+------+----+------------------</a:t>
            </a:r>
          </a:p>
          <a:p>
            <a:r>
              <a:rPr lang="en-US" sz="1400" dirty="0"/>
              <a:t>*   99     5000.0003.0007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Vlan99</a:t>
            </a:r>
          </a:p>
          <a:p>
            <a:r>
              <a:rPr lang="en-US" sz="1400" dirty="0"/>
              <a:t>G    -     0005.0005.0005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sup-eth1(R)</a:t>
            </a:r>
          </a:p>
          <a:p>
            <a:r>
              <a:rPr lang="en-US" sz="1400" dirty="0"/>
              <a:t>G    -     5000.0003.0007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sup-eth1(R)</a:t>
            </a:r>
          </a:p>
          <a:p>
            <a:r>
              <a:rPr lang="en-US" sz="1400" dirty="0"/>
              <a:t>G    2     5000.0003.0007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sup-eth1(R)</a:t>
            </a:r>
          </a:p>
          <a:p>
            <a:r>
              <a:rPr lang="en-US" sz="1400" dirty="0"/>
              <a:t>G   12     5000.0003.0007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sup-eth1(R)</a:t>
            </a:r>
          </a:p>
          <a:p>
            <a:r>
              <a:rPr lang="en-US" sz="1400" dirty="0"/>
              <a:t>G   15     5000.0003.0007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sup-eth1(R)</a:t>
            </a:r>
          </a:p>
          <a:p>
            <a:r>
              <a:rPr lang="en-US" sz="1400" dirty="0"/>
              <a:t>G   99     5000.0003.0007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sup-eth1(R)</a:t>
            </a:r>
          </a:p>
          <a:p>
            <a:r>
              <a:rPr lang="en-US" sz="1400" dirty="0"/>
              <a:t>G    2     5000.0004.0007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</a:t>
            </a:r>
            <a:r>
              <a:rPr lang="en-US" sz="1400" dirty="0" err="1"/>
              <a:t>vPC</a:t>
            </a:r>
            <a:r>
              <a:rPr lang="en-US" sz="1400" dirty="0"/>
              <a:t> Peer-Link(R)</a:t>
            </a:r>
          </a:p>
          <a:p>
            <a:r>
              <a:rPr lang="en-US" sz="1400" dirty="0"/>
              <a:t>G   12     5000.0004.0007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</a:t>
            </a:r>
            <a:r>
              <a:rPr lang="en-US" sz="1400" dirty="0" err="1"/>
              <a:t>vPC</a:t>
            </a:r>
            <a:r>
              <a:rPr lang="en-US" sz="1400" dirty="0"/>
              <a:t> Peer-Link(R)</a:t>
            </a:r>
          </a:p>
          <a:p>
            <a:r>
              <a:rPr lang="en-US" sz="1400" dirty="0"/>
              <a:t>G   15     5000.0004.0007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</a:t>
            </a:r>
            <a:r>
              <a:rPr lang="en-US" sz="1400" dirty="0" err="1"/>
              <a:t>vPC</a:t>
            </a:r>
            <a:r>
              <a:rPr lang="en-US" sz="1400" dirty="0"/>
              <a:t> Peer-Link(R)</a:t>
            </a:r>
          </a:p>
          <a:p>
            <a:r>
              <a:rPr lang="en-US" sz="1400" dirty="0"/>
              <a:t>G   99     5000.0004.0007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</a:t>
            </a:r>
            <a:r>
              <a:rPr lang="en-US" sz="1400" dirty="0" err="1"/>
              <a:t>vPC</a:t>
            </a:r>
            <a:r>
              <a:rPr lang="en-US" sz="1400" dirty="0"/>
              <a:t> Peer-Link(R)</a:t>
            </a:r>
            <a:endParaRPr lang="ru-RU" sz="1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178823" y="2440248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Leaf2-1# </a:t>
            </a:r>
            <a:r>
              <a:rPr lang="en-US" sz="1400" dirty="0" err="1"/>
              <a:t>sho</a:t>
            </a:r>
            <a:r>
              <a:rPr lang="en-US" sz="1400" dirty="0"/>
              <a:t> mac address-table</a:t>
            </a:r>
          </a:p>
          <a:p>
            <a:r>
              <a:rPr lang="en-US" sz="1400" dirty="0"/>
              <a:t>Legend:</a:t>
            </a:r>
          </a:p>
          <a:p>
            <a:r>
              <a:rPr lang="en-US" sz="1400" dirty="0"/>
              <a:t>        * - primary entry, G - Gateway MAC, (R) - Routed MAC, O - Overlay MAC</a:t>
            </a:r>
          </a:p>
          <a:p>
            <a:r>
              <a:rPr lang="en-US" sz="1400" dirty="0"/>
              <a:t>        age - seconds since last seen,+ - primary entry using </a:t>
            </a:r>
            <a:r>
              <a:rPr lang="en-US" sz="1400" dirty="0" err="1"/>
              <a:t>vPC</a:t>
            </a:r>
            <a:r>
              <a:rPr lang="en-US" sz="1400" dirty="0"/>
              <a:t> Peer-Link,</a:t>
            </a:r>
          </a:p>
          <a:p>
            <a:r>
              <a:rPr lang="en-US" sz="1400" dirty="0"/>
              <a:t>        (T) - True, (F) - False, C - </a:t>
            </a:r>
            <a:r>
              <a:rPr lang="en-US" sz="1400" dirty="0" err="1"/>
              <a:t>ControlPlane</a:t>
            </a:r>
            <a:r>
              <a:rPr lang="en-US" sz="1400" dirty="0"/>
              <a:t> MAC, ~ - </a:t>
            </a:r>
            <a:r>
              <a:rPr lang="en-US" sz="1400" dirty="0" err="1"/>
              <a:t>vsan</a:t>
            </a:r>
            <a:endParaRPr lang="en-US" sz="1400" dirty="0"/>
          </a:p>
          <a:p>
            <a:r>
              <a:rPr lang="en-US" sz="1400" dirty="0"/>
              <a:t>   VLAN     MAC Address      Type      age     Secure NTFY Ports</a:t>
            </a:r>
          </a:p>
          <a:p>
            <a:r>
              <a:rPr lang="en-US" sz="1400" dirty="0"/>
              <a:t>---------+-----------------+--------+---------+------+----+------------------</a:t>
            </a:r>
          </a:p>
          <a:p>
            <a:r>
              <a:rPr lang="en-US" sz="1400" dirty="0"/>
              <a:t>*   99     5000.000a.0007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Vlan99</a:t>
            </a:r>
          </a:p>
          <a:p>
            <a:r>
              <a:rPr lang="en-US" sz="1400" dirty="0"/>
              <a:t>G    -     0005.0005.0005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sup-eth1(R)</a:t>
            </a:r>
          </a:p>
          <a:p>
            <a:r>
              <a:rPr lang="en-US" sz="1400" dirty="0"/>
              <a:t>G    2     5000.0009.0007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</a:t>
            </a:r>
            <a:r>
              <a:rPr lang="en-US" sz="1400" dirty="0" err="1"/>
              <a:t>vPC</a:t>
            </a:r>
            <a:r>
              <a:rPr lang="en-US" sz="1400" dirty="0"/>
              <a:t> Peer-Link(R)</a:t>
            </a:r>
          </a:p>
          <a:p>
            <a:r>
              <a:rPr lang="en-US" sz="1400" dirty="0"/>
              <a:t>G   12     5000.0009.0007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</a:t>
            </a:r>
            <a:r>
              <a:rPr lang="en-US" sz="1400" dirty="0" err="1"/>
              <a:t>vPC</a:t>
            </a:r>
            <a:r>
              <a:rPr lang="en-US" sz="1400" dirty="0"/>
              <a:t> Peer-Link(R)</a:t>
            </a:r>
          </a:p>
          <a:p>
            <a:r>
              <a:rPr lang="en-US" sz="1400" dirty="0"/>
              <a:t>G   15     5000.0009.0007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</a:t>
            </a:r>
            <a:r>
              <a:rPr lang="en-US" sz="1400" dirty="0" err="1"/>
              <a:t>vPC</a:t>
            </a:r>
            <a:r>
              <a:rPr lang="en-US" sz="1400" dirty="0"/>
              <a:t> Peer-Link(R)</a:t>
            </a:r>
          </a:p>
          <a:p>
            <a:r>
              <a:rPr lang="en-US" sz="1400" dirty="0"/>
              <a:t>G   99     5000.0009.0007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</a:t>
            </a:r>
            <a:r>
              <a:rPr lang="en-US" sz="1400" dirty="0" err="1"/>
              <a:t>vPC</a:t>
            </a:r>
            <a:r>
              <a:rPr lang="en-US" sz="1400" dirty="0"/>
              <a:t> Peer-Link(R)</a:t>
            </a:r>
          </a:p>
          <a:p>
            <a:r>
              <a:rPr lang="en-US" sz="1400" dirty="0"/>
              <a:t>G    -     5000.000a.0007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sup-eth1(R)</a:t>
            </a:r>
          </a:p>
          <a:p>
            <a:r>
              <a:rPr lang="en-US" sz="1400" dirty="0"/>
              <a:t>G    2     5000.000a.0007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sup-eth1(R)</a:t>
            </a:r>
          </a:p>
          <a:p>
            <a:r>
              <a:rPr lang="en-US" sz="1400" dirty="0"/>
              <a:t>G   12     5000.000a.0007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sup-eth1(R)</a:t>
            </a:r>
          </a:p>
          <a:p>
            <a:r>
              <a:rPr lang="en-US" sz="1400" dirty="0"/>
              <a:t>G   15     5000.000a.0007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sup-eth1(R)</a:t>
            </a:r>
          </a:p>
          <a:p>
            <a:r>
              <a:rPr lang="en-US" sz="1400" dirty="0"/>
              <a:t>G   99     5000.000a.0007   static   -         F      </a:t>
            </a:r>
            <a:r>
              <a:rPr lang="en-US" sz="1400" dirty="0" err="1"/>
              <a:t>F</a:t>
            </a:r>
            <a:r>
              <a:rPr lang="en-US" sz="1400" dirty="0"/>
              <a:t>    sup-eth1(R)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33039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375"/>
          </a:xfrm>
          <a:prstGeom prst="rect">
            <a:avLst/>
          </a:prstGeom>
        </p:spPr>
      </p:pic>
      <p:sp>
        <p:nvSpPr>
          <p:cNvPr id="3" name="Google Shape;171;p38"/>
          <p:cNvSpPr txBox="1">
            <a:spLocks/>
          </p:cNvSpPr>
          <p:nvPr/>
        </p:nvSpPr>
        <p:spPr>
          <a:xfrm>
            <a:off x="538549" y="348974"/>
            <a:ext cx="9362195" cy="79403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4400" b="1" dirty="0" smtClean="0">
                <a:solidFill>
                  <a:schemeClr val="accent2">
                    <a:lumMod val="75000"/>
                  </a:schemeClr>
                </a:solidFill>
              </a:rPr>
              <a:t>Что можно было добавить</a:t>
            </a:r>
            <a:r>
              <a:rPr lang="en-US" sz="4400" b="1" dirty="0" smtClean="0">
                <a:solidFill>
                  <a:schemeClr val="accent2">
                    <a:lumMod val="75000"/>
                  </a:schemeClr>
                </a:solidFill>
              </a:rPr>
              <a:t>\</a:t>
            </a:r>
            <a:r>
              <a:rPr lang="ru-RU" sz="4400" b="1" dirty="0" smtClean="0">
                <a:solidFill>
                  <a:schemeClr val="accent2">
                    <a:lumMod val="75000"/>
                  </a:schemeClr>
                </a:solidFill>
              </a:rPr>
              <a:t>улучшить</a:t>
            </a:r>
            <a:endParaRPr lang="ru-RU" sz="4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" name="Google Shape;1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2347" y="387628"/>
            <a:ext cx="822175" cy="284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Группа 7"/>
          <p:cNvGrpSpPr/>
          <p:nvPr/>
        </p:nvGrpSpPr>
        <p:grpSpPr>
          <a:xfrm>
            <a:off x="538549" y="1362589"/>
            <a:ext cx="7701561" cy="3377577"/>
            <a:chOff x="-1901602" y="-1344126"/>
            <a:chExt cx="7311697" cy="3092715"/>
          </a:xfrm>
        </p:grpSpPr>
        <p:sp>
          <p:nvSpPr>
            <p:cNvPr id="9" name="Скругленный прямоугольник 8"/>
            <p:cNvSpPr/>
            <p:nvPr/>
          </p:nvSpPr>
          <p:spPr>
            <a:xfrm>
              <a:off x="-1901602" y="-1344126"/>
              <a:ext cx="7311697" cy="14320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Скругленный прямоугольник 4"/>
            <p:cNvSpPr txBox="1"/>
            <p:nvPr/>
          </p:nvSpPr>
          <p:spPr>
            <a:xfrm>
              <a:off x="-1761786" y="-1344126"/>
              <a:ext cx="7171881" cy="12922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l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3200" dirty="0" smtClean="0"/>
                <a:t>Использовать модель </a:t>
              </a:r>
              <a:r>
                <a:rPr lang="en-US" sz="3200" dirty="0" err="1" smtClean="0"/>
                <a:t>MultiSite</a:t>
              </a:r>
              <a:r>
                <a:rPr lang="en-US" sz="3200" dirty="0" smtClean="0"/>
                <a:t> </a:t>
              </a:r>
              <a:r>
                <a:rPr lang="ru-RU" sz="3200" dirty="0" smtClean="0"/>
                <a:t>в качестве перспективного решения</a:t>
              </a:r>
              <a:endParaRPr lang="ru-RU" sz="3200" kern="1200" dirty="0"/>
            </a:p>
          </p:txBody>
        </p:sp>
        <p:sp>
          <p:nvSpPr>
            <p:cNvPr id="13" name="Скругленный прямоугольник 12"/>
            <p:cNvSpPr/>
            <p:nvPr/>
          </p:nvSpPr>
          <p:spPr>
            <a:xfrm>
              <a:off x="-1901602" y="316509"/>
              <a:ext cx="7311697" cy="14320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Скругленный прямоугольник 4"/>
            <p:cNvSpPr txBox="1"/>
            <p:nvPr/>
          </p:nvSpPr>
          <p:spPr>
            <a:xfrm>
              <a:off x="-1831695" y="336648"/>
              <a:ext cx="7171881" cy="12922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l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3200" dirty="0" smtClean="0"/>
                <a:t>Использовать несколько </a:t>
              </a:r>
              <a:r>
                <a:rPr lang="en-US" sz="3200" dirty="0" smtClean="0"/>
                <a:t>VRF </a:t>
              </a:r>
              <a:r>
                <a:rPr lang="ru-RU" sz="3200" dirty="0" smtClean="0"/>
                <a:t>для более гибкого управления маршрутизацией</a:t>
              </a:r>
              <a:endParaRPr lang="ru-RU" sz="3200" kern="1200" dirty="0"/>
            </a:p>
          </p:txBody>
        </p:sp>
      </p:grpSp>
      <p:pic>
        <p:nvPicPr>
          <p:cNvPr id="15" name="Google Shape;29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63434" y="5922862"/>
            <a:ext cx="504910" cy="5048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5274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375"/>
          </a:xfrm>
          <a:prstGeom prst="rect">
            <a:avLst/>
          </a:prstGeom>
        </p:spPr>
      </p:pic>
      <p:sp>
        <p:nvSpPr>
          <p:cNvPr id="3" name="Google Shape;171;p38"/>
          <p:cNvSpPr txBox="1">
            <a:spLocks/>
          </p:cNvSpPr>
          <p:nvPr/>
        </p:nvSpPr>
        <p:spPr>
          <a:xfrm>
            <a:off x="538549" y="348974"/>
            <a:ext cx="9362195" cy="79403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4400" b="1" dirty="0" smtClean="0">
                <a:solidFill>
                  <a:schemeClr val="accent2">
                    <a:lumMod val="75000"/>
                  </a:schemeClr>
                </a:solidFill>
              </a:rPr>
              <a:t>Выводы</a:t>
            </a:r>
            <a:endParaRPr lang="ru-RU" sz="4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Google Shape;1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2347" y="387628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Овал 1"/>
          <p:cNvSpPr/>
          <p:nvPr/>
        </p:nvSpPr>
        <p:spPr>
          <a:xfrm>
            <a:off x="186947" y="1834264"/>
            <a:ext cx="5909054" cy="17447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4864050" y="837940"/>
            <a:ext cx="5909054" cy="17447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5219646" y="3195402"/>
            <a:ext cx="5909054" cy="17447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1201818" y="4420892"/>
            <a:ext cx="5909054" cy="17447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072259" y="2368497"/>
            <a:ext cx="3822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1. На стенде в упрощенной схеме проверить работу модели </a:t>
            </a:r>
            <a:r>
              <a:rPr lang="en-US" dirty="0" err="1" smtClean="0">
                <a:solidFill>
                  <a:schemeClr val="bg1"/>
                </a:solidFill>
              </a:rPr>
              <a:t>MultiSite</a:t>
            </a:r>
            <a:r>
              <a:rPr lang="ru-RU" dirty="0" smtClean="0">
                <a:solidFill>
                  <a:schemeClr val="bg1"/>
                </a:solidFill>
              </a:rPr>
              <a:t> 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5665" y="1257185"/>
            <a:ext cx="3822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  <a:r>
              <a:rPr lang="ru-RU" dirty="0" smtClean="0">
                <a:solidFill>
                  <a:schemeClr val="bg1"/>
                </a:solidFill>
              </a:rPr>
              <a:t>. </a:t>
            </a:r>
            <a:r>
              <a:rPr lang="ru-RU" dirty="0">
                <a:solidFill>
                  <a:schemeClr val="bg1"/>
                </a:solidFill>
              </a:rPr>
              <a:t>В</a:t>
            </a:r>
            <a:r>
              <a:rPr lang="ru-RU" dirty="0" smtClean="0">
                <a:solidFill>
                  <a:schemeClr val="bg1"/>
                </a:solidFill>
              </a:rPr>
              <a:t> текущей схеме применить разделения на несколько </a:t>
            </a:r>
            <a:r>
              <a:rPr lang="en-US" dirty="0" smtClean="0">
                <a:solidFill>
                  <a:schemeClr val="bg1"/>
                </a:solidFill>
              </a:rPr>
              <a:t>VRF</a:t>
            </a:r>
            <a:r>
              <a:rPr lang="ru-RU" dirty="0" smtClean="0">
                <a:solidFill>
                  <a:schemeClr val="bg1"/>
                </a:solidFill>
              </a:rPr>
              <a:t>  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63109" y="3606095"/>
            <a:ext cx="3822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r>
              <a:rPr lang="ru-RU" dirty="0" smtClean="0">
                <a:solidFill>
                  <a:schemeClr val="bg1"/>
                </a:solidFill>
              </a:rPr>
              <a:t>. С помощью полученных знаний на курсе </a:t>
            </a:r>
            <a:r>
              <a:rPr lang="en-US" dirty="0" smtClean="0">
                <a:solidFill>
                  <a:schemeClr val="bg1"/>
                </a:solidFill>
              </a:rPr>
              <a:t>OTUS </a:t>
            </a:r>
            <a:r>
              <a:rPr lang="ru-RU" dirty="0" smtClean="0">
                <a:solidFill>
                  <a:schemeClr val="bg1"/>
                </a:solidFill>
              </a:rPr>
              <a:t>провести анализ работы текущей фабрики в основном </a:t>
            </a:r>
            <a:r>
              <a:rPr lang="en-US" dirty="0" smtClean="0">
                <a:solidFill>
                  <a:schemeClr val="bg1"/>
                </a:solidFill>
              </a:rPr>
              <a:t>POD</a:t>
            </a:r>
            <a:r>
              <a:rPr lang="ru-RU" dirty="0" smtClean="0">
                <a:solidFill>
                  <a:schemeClr val="bg1"/>
                </a:solidFill>
              </a:rPr>
              <a:t>   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40982" y="4582234"/>
            <a:ext cx="38221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4</a:t>
            </a:r>
            <a:r>
              <a:rPr lang="ru-RU" dirty="0" smtClean="0">
                <a:solidFill>
                  <a:schemeClr val="bg1"/>
                </a:solidFill>
              </a:rPr>
              <a:t>. Разработать проект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внедрения резервного </a:t>
            </a:r>
            <a:r>
              <a:rPr lang="en-US" dirty="0" smtClean="0">
                <a:solidFill>
                  <a:schemeClr val="bg1"/>
                </a:solidFill>
              </a:rPr>
              <a:t>POD</a:t>
            </a:r>
            <a:r>
              <a:rPr lang="ru-RU" dirty="0" smtClean="0">
                <a:solidFill>
                  <a:schemeClr val="bg1"/>
                </a:solidFill>
              </a:rPr>
              <a:t>. Оценить возможность использования </a:t>
            </a:r>
            <a:r>
              <a:rPr lang="en-US" dirty="0" err="1" smtClean="0">
                <a:solidFill>
                  <a:schemeClr val="bg1"/>
                </a:solidFill>
              </a:rPr>
              <a:t>MultiSite</a:t>
            </a:r>
            <a:r>
              <a:rPr lang="en-US" dirty="0" smtClean="0">
                <a:solidFill>
                  <a:schemeClr val="bg1"/>
                </a:solidFill>
              </a:rPr>
              <a:t>. </a:t>
            </a:r>
            <a:r>
              <a:rPr lang="ru-RU" dirty="0" smtClean="0">
                <a:solidFill>
                  <a:schemeClr val="bg1"/>
                </a:solidFill>
              </a:rPr>
              <a:t>Провести согласование, запланировать внедрение</a:t>
            </a:r>
            <a:r>
              <a:rPr lang="ru-RU" dirty="0">
                <a:solidFill>
                  <a:schemeClr val="bg1"/>
                </a:solidFill>
              </a:rPr>
              <a:t>.</a:t>
            </a:r>
            <a:r>
              <a:rPr lang="ru-RU" dirty="0" smtClean="0">
                <a:solidFill>
                  <a:schemeClr val="bg1"/>
                </a:solidFill>
              </a:rPr>
              <a:t>  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3" name="Google Shape;27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8190" y="5371336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86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86404" y="4024781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7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2045" y="1675731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85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23747" y="766077"/>
            <a:ext cx="493249" cy="493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2212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375"/>
          </a:xfrm>
          <a:prstGeom prst="rect">
            <a:avLst/>
          </a:prstGeom>
        </p:spPr>
      </p:pic>
      <p:sp>
        <p:nvSpPr>
          <p:cNvPr id="3" name="Google Shape;171;p38"/>
          <p:cNvSpPr txBox="1">
            <a:spLocks/>
          </p:cNvSpPr>
          <p:nvPr/>
        </p:nvSpPr>
        <p:spPr>
          <a:xfrm>
            <a:off x="1600094" y="2776864"/>
            <a:ext cx="9362195" cy="101563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b="1" dirty="0" smtClean="0">
                <a:solidFill>
                  <a:schemeClr val="accent2">
                    <a:lumMod val="75000"/>
                  </a:schemeClr>
                </a:solidFill>
              </a:rPr>
              <a:t>!!! Спасибо за Внимание !!!</a:t>
            </a:r>
            <a:endParaRPr lang="ru-RU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Google Shape;1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2347" y="387628"/>
            <a:ext cx="822175" cy="284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757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</TotalTime>
  <Words>1193</Words>
  <Application>Microsoft Office PowerPoint</Application>
  <PresentationFormat>Широкоэкранный</PresentationFormat>
  <Paragraphs>121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Calibri</vt:lpstr>
      <vt:lpstr>Roboto</vt:lpstr>
      <vt:lpstr>Roboto Medium</vt:lpstr>
      <vt:lpstr>Tw Cen MT</vt:lpstr>
      <vt:lpstr>Tw Cen MT Condensed</vt:lpstr>
      <vt:lpstr>Wingdings 3</vt:lpstr>
      <vt:lpstr>Интеграл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VTB Leasing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Gorban Andrey</dc:creator>
  <cp:lastModifiedBy>Gorban Andrey</cp:lastModifiedBy>
  <cp:revision>24</cp:revision>
  <dcterms:created xsi:type="dcterms:W3CDTF">2025-11-05T07:05:28Z</dcterms:created>
  <dcterms:modified xsi:type="dcterms:W3CDTF">2025-11-05T15:10:01Z</dcterms:modified>
</cp:coreProperties>
</file>